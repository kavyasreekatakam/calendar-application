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3" r:id="rId11"/>
    <p:sldId id="272" r:id="rId12"/>
    <p:sldId id="265" r:id="rId13"/>
    <p:sldId id="266" r:id="rId14"/>
    <p:sldId id="268" r:id="rId15"/>
    <p:sldId id="267" r:id="rId16"/>
    <p:sldId id="269" r:id="rId17"/>
    <p:sldId id="270" r:id="rId18"/>
    <p:sldId id="274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4"/>
  </p:normalViewPr>
  <p:slideViewPr>
    <p:cSldViewPr snapToGrid="0">
      <p:cViewPr varScale="1">
        <p:scale>
          <a:sx n="121" d="100"/>
          <a:sy n="121" d="100"/>
        </p:scale>
        <p:origin x="2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7EFB7-354E-9EBA-2953-459A30E8E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23F15-BBFA-2456-0714-6A10580891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6BB24-EF58-F01F-3C70-A9A0F7D51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D176C-A2BF-C44E-81DC-6EB220B8344F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ADE81-4910-7534-D2E1-9F5933E3B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87A9D-B329-633C-CCBA-935765CB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93C4-FC63-FE41-A251-5DC76F5C5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262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EE74-F169-97D6-9A07-8CDFBE36F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57C5B-9780-3C0C-A8C5-A9AE253A1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6C981-0748-E8CF-4045-52C8F8DB7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D176C-A2BF-C44E-81DC-6EB220B8344F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A1A9C-5D0E-1C98-5F40-8FE134AB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7AC84-20F2-9674-A2EA-73DAA234F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93C4-FC63-FE41-A251-5DC76F5C5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919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63A3E-CAEA-EBCB-A43C-7F0E0247D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E0F379-B3F5-A609-FA32-7D39C4798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6305A-12DF-49B5-D4EB-AF3EFA785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D176C-A2BF-C44E-81DC-6EB220B8344F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1231B-B9C1-E5E3-BB1B-4749ADA18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E1C0D-FF25-16C9-554A-16DE2AC4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93C4-FC63-FE41-A251-5DC76F5C5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70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37739-1FDD-3DFA-8BFF-5A58D5897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7FF78-AB4C-943F-0D76-0BC870E6FA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5DE48D-CE04-5558-4889-288249368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95D073-B7C3-C5B1-263C-A91737C11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D176C-A2BF-C44E-81DC-6EB220B8344F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3A9AC0-ABE1-88DA-9465-1E4F2D8A4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2CAFD2-D1E1-B283-D00F-443910D03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93C4-FC63-FE41-A251-5DC76F5C5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274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098CE-F502-12E5-8271-E4E04322A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68A579-CEE5-8D72-A421-33533846B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BB7DCF-9437-67F3-8CB8-9D7AEE92B3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AC12D5-3EFD-088D-FCF2-D7F4C0D1FF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55555-45E1-7EDB-F174-529E4551BE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89BF3F-D133-E3C4-31C2-6A1FE17C4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D176C-A2BF-C44E-81DC-6EB220B8344F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3D93C1-35F6-1534-56C2-5E6D7F31D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5D5790-9DDA-EABC-5959-3639B2A14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93C4-FC63-FE41-A251-5DC76F5C5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219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39385-5A10-9251-FBFC-C76C22B18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E09AE7-C9F4-F923-7702-CD4251F6F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D176C-A2BF-C44E-81DC-6EB220B8344F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BFBD1A-AB0C-BC55-4C53-6B7AF9956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497DC7-291C-5315-FECC-82DB180D9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93C4-FC63-FE41-A251-5DC76F5C5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74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A85D22-C05B-5A83-5000-91593BB46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D176C-A2BF-C44E-81DC-6EB220B8344F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5FE216-8DFD-DC01-2632-88E40DB0E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5F3F3-ACF1-DC87-6DED-68A02F5FD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93C4-FC63-FE41-A251-5DC76F5C5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899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686D2-2B01-7B42-449E-2D5D033C2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01BC4-D77F-6A7A-774B-9D14CB96C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B1FFD0-9E84-802B-618D-FF52DC162B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3A4E1-D031-3EF1-53B5-FE9EE72D8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D176C-A2BF-C44E-81DC-6EB220B8344F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4FA05-D5E4-41DA-97F3-8037A523A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9688F-5EAE-01D8-7586-2CF7A4EE3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93C4-FC63-FE41-A251-5DC76F5C5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304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F1358-C256-D9E0-8122-C027295B7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6E63CB-D4C6-9660-5ADF-FC22447942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FE0C93-A9E6-BCBB-DE63-3512F421C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3BB04C-FDDB-1663-D41E-0500BD963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D176C-A2BF-C44E-81DC-6EB220B8344F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6C8C5-8009-60EF-B2A1-D4F972406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F210FA-D95B-43EA-F5CC-4E374CBB0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93C4-FC63-FE41-A251-5DC76F5C5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84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632CB-9732-7CAA-A98B-B17D228A5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16BDED-0C93-C9ED-29AC-B1D8E9AC1D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E82E7-8400-37EB-9A1B-B6080F259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D176C-A2BF-C44E-81DC-6EB220B8344F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08073-69ED-0C54-B4DC-6CCF44C8F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4D20F-AD4D-75FF-C73C-A6800B5A4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93C4-FC63-FE41-A251-5DC76F5C5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77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541680-B4CC-A3A4-747C-7F933CBE6F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7CD477-ECE6-C691-9CE2-F25A91071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40F14-56B6-1AB2-81D7-4F1642190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D176C-A2BF-C44E-81DC-6EB220B8344F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436AF-4790-6193-A608-DA9383318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599A1-43EB-FEC6-BBEB-D5C7DA295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093C4-FC63-FE41-A251-5DC76F5C5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730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435258-EA86-91ED-BAA3-164C213D6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AF8EE-CDDD-6050-A583-FD8C946E7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40E69-DA8B-8680-9BCB-6FFB914A6A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7D176C-A2BF-C44E-81DC-6EB220B8344F}" type="datetimeFigureOut">
              <a:rPr lang="en-US" smtClean="0"/>
              <a:t>12/31/25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942BC-9892-7DDB-4DE3-D752C8995A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EFE9-BEBD-23D4-CB06-F84A091C6A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093C4-FC63-FE41-A251-5DC76F5C5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776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BA493-82FD-56DD-8C7E-2410907978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35182"/>
            <a:ext cx="9144000" cy="2493818"/>
          </a:xfrm>
        </p:spPr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Simple Calendar Application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FC114FD-D6A5-B240-BFDD-E75FD4131167}"/>
              </a:ext>
            </a:extLst>
          </p:cNvPr>
          <p:cNvSpPr txBox="1">
            <a:spLocks/>
          </p:cNvSpPr>
          <p:nvPr/>
        </p:nvSpPr>
        <p:spPr>
          <a:xfrm>
            <a:off x="1676400" y="3549630"/>
            <a:ext cx="9144000" cy="2493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                 Kavya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Sree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Katakam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97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D6B60-0B20-5217-E1D9-960204EB4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36768-C77C-C9C2-7B42-DE2D77151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Backend + UI Overview</a:t>
            </a:r>
          </a:p>
          <a:p>
            <a:pPr marL="800100" lvl="1" indent="-342900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Calendar and appointment management system</a:t>
            </a:r>
          </a:p>
          <a:p>
            <a:pPr marL="800100" lvl="1" indent="-342900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Prevents overlapping events</a:t>
            </a:r>
          </a:p>
          <a:p>
            <a:pPr marL="800100" lvl="1" indent="-342900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Supports daily views, remaining events, and availability search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Built using Spring Boot (Backend) and React (UI)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641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D09F7-2B34-4408-781E-D23F04F64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53F0D-D089-6260-735C-3195E530D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Create a simple calendar system</a:t>
            </a:r>
          </a:p>
          <a:p>
            <a:r>
              <a:rPr lang="en-US" dirty="0"/>
              <a:t>Users can:</a:t>
            </a:r>
          </a:p>
          <a:p>
            <a:pPr lvl="1"/>
            <a:r>
              <a:rPr lang="en-US" dirty="0"/>
              <a:t>Create events with title, event type (Out of Office, Reminder, Holiday), date, start time, end time</a:t>
            </a:r>
          </a:p>
          <a:p>
            <a:pPr lvl="1"/>
            <a:r>
              <a:rPr lang="en-US" dirty="0"/>
              <a:t>View events by day</a:t>
            </a:r>
          </a:p>
          <a:p>
            <a:pPr lvl="1"/>
            <a:r>
              <a:rPr lang="en-US" dirty="0"/>
              <a:t>See remaining events for today</a:t>
            </a:r>
          </a:p>
          <a:p>
            <a:pPr lvl="1"/>
            <a:r>
              <a:rPr lang="en-US" dirty="0"/>
              <a:t>Find next available slot of given duration</a:t>
            </a:r>
          </a:p>
          <a:p>
            <a:r>
              <a:rPr lang="en-US" dirty="0"/>
              <a:t>Overlapping events must be prevented</a:t>
            </a:r>
          </a:p>
          <a:p>
            <a:r>
              <a:rPr lang="en-US" dirty="0"/>
              <a:t>No database required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Note that event type doesn’t hold logic around any liberal meaning - it is just a basic selection of event type.</a:t>
            </a:r>
          </a:p>
        </p:txBody>
      </p:sp>
    </p:spTree>
    <p:extLst>
      <p:ext uri="{BB962C8B-B14F-4D97-AF65-F5344CB8AC3E}">
        <p14:creationId xmlns:p14="http://schemas.microsoft.com/office/powerpoint/2010/main" val="3165412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4DF22-731C-53B1-24A8-8D2B60911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Overall Approach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320A0-6C3D-A463-92A0-94E7A33B5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Split application into </a:t>
            </a:r>
            <a:r>
              <a:rPr lang="en-US" b="1" dirty="0"/>
              <a:t>Backend</a:t>
            </a:r>
            <a:r>
              <a:rPr lang="en-US" dirty="0"/>
              <a:t> and </a:t>
            </a:r>
            <a:r>
              <a:rPr lang="en-US" b="1" dirty="0"/>
              <a:t>Frontend</a:t>
            </a:r>
            <a:endParaRPr lang="en-US" dirty="0"/>
          </a:p>
          <a:p>
            <a:r>
              <a:rPr lang="en-US" dirty="0"/>
              <a:t>Backend exposes REST APIs</a:t>
            </a:r>
          </a:p>
          <a:p>
            <a:r>
              <a:rPr lang="en-US" dirty="0"/>
              <a:t>Frontend consumes APIs and provides interactive UI</a:t>
            </a:r>
          </a:p>
          <a:p>
            <a:r>
              <a:rPr lang="en-US" dirty="0"/>
              <a:t>Business rules enforced at both UI and backend levels</a:t>
            </a:r>
          </a:p>
          <a:p>
            <a:r>
              <a:rPr lang="en-US" dirty="0"/>
              <a:t>Data persisted using a local JSON file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111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3326F-14BC-9FAD-1BB9-1E46B64AD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Backend Design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F5CA2-B2DE-A9BB-9F31-6E90E2A19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Technology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Java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Spring Boot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Jackson (JSON serialization)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Architecture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Model → Controller → Service → File Storage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REST-based communication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Stateless APIs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Persistence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File-based storage (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events.json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)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No database dependency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493DA-0F93-C9C9-4645-EB355C8ED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Backend Key Files &amp; Folders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50CDA-4828-805D-D002-EE44DF1C2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calendar-backend/</a:t>
            </a:r>
          </a:p>
          <a:p>
            <a:pPr marL="0" indent="0">
              <a:buNone/>
            </a:pPr>
            <a:r>
              <a:rPr lang="en-US" dirty="0"/>
              <a:t>|── controller/</a:t>
            </a:r>
          </a:p>
          <a:p>
            <a:pPr marL="0" indent="0">
              <a:buNone/>
            </a:pPr>
            <a:r>
              <a:rPr lang="en-US" dirty="0"/>
              <a:t>| └── </a:t>
            </a:r>
            <a:r>
              <a:rPr lang="en-US" dirty="0" err="1"/>
              <a:t>EventController.java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|── service/</a:t>
            </a:r>
          </a:p>
          <a:p>
            <a:pPr marL="0" indent="0">
              <a:buNone/>
            </a:pPr>
            <a:r>
              <a:rPr lang="en-US" dirty="0"/>
              <a:t>| └── </a:t>
            </a:r>
            <a:r>
              <a:rPr lang="en-US" dirty="0" err="1"/>
              <a:t>EventService.java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|── model/</a:t>
            </a:r>
          </a:p>
          <a:p>
            <a:pPr marL="0" indent="0">
              <a:buNone/>
            </a:pPr>
            <a:r>
              <a:rPr lang="en-US" dirty="0"/>
              <a:t>|  └── </a:t>
            </a:r>
            <a:r>
              <a:rPr lang="en-US" dirty="0" err="1"/>
              <a:t>Event.java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|  └── </a:t>
            </a:r>
            <a:r>
              <a:rPr lang="en-US" dirty="0" err="1"/>
              <a:t>AvailableSlot.java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|data/</a:t>
            </a:r>
          </a:p>
          <a:p>
            <a:pPr marL="0" indent="0">
              <a:buNone/>
            </a:pPr>
            <a:r>
              <a:rPr lang="en-US" dirty="0"/>
              <a:t>│   └── </a:t>
            </a:r>
            <a:r>
              <a:rPr lang="en-US" dirty="0" err="1"/>
              <a:t>events.json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| ── </a:t>
            </a:r>
            <a:r>
              <a:rPr lang="en-US" dirty="0" err="1"/>
              <a:t>CalendarBackendApplication.java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962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E1E74-BFA1-28EF-F9D5-18F1BA926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Backend Core Features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907A0-4EA9-0509-9B67-4960A16B1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Create, update, delete events</a:t>
            </a:r>
          </a:p>
          <a:p>
            <a:r>
              <a:rPr lang="en-US" dirty="0"/>
              <a:t>Prevent overlapping events</a:t>
            </a:r>
          </a:p>
          <a:p>
            <a:r>
              <a:rPr lang="en-US" dirty="0"/>
              <a:t>Fetch events:</a:t>
            </a:r>
          </a:p>
          <a:p>
            <a:pPr lvl="1"/>
            <a:r>
              <a:rPr lang="en-US" dirty="0"/>
              <a:t>All events (of all days/dates)</a:t>
            </a:r>
          </a:p>
          <a:p>
            <a:pPr lvl="1"/>
            <a:r>
              <a:rPr lang="en-US" dirty="0"/>
              <a:t>By date</a:t>
            </a:r>
          </a:p>
          <a:p>
            <a:pPr lvl="1"/>
            <a:r>
              <a:rPr lang="en-US" dirty="0"/>
              <a:t>Today</a:t>
            </a:r>
          </a:p>
          <a:p>
            <a:pPr lvl="1"/>
            <a:r>
              <a:rPr lang="en-US" dirty="0"/>
              <a:t>Remaining for today</a:t>
            </a:r>
          </a:p>
          <a:p>
            <a:r>
              <a:rPr lang="en-US" dirty="0"/>
              <a:t>Find next available slot – Working hours enforced (9 AM – 5 PM) only for this method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66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20196-0AB6-18A3-EFDB-912D29CF2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Frontend Design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4B0FC-1DC2-E7F1-6E43-94F67806E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Technology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React (Functional Components + Hooks)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Responsibilities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Calendar views (Month / Day) 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0000"/>
                </a:solidFill>
              </a:rPr>
              <a:t>	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– Limited to a month for now.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Event creation, editing &amp; deleting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Client-side validation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API integration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User-friendly interactions</a:t>
            </a:r>
          </a:p>
          <a:p>
            <a:pPr marL="0" indent="0" algn="l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Backend remains source of truth.</a:t>
            </a:r>
          </a:p>
          <a:p>
            <a:endParaRPr lang="en-US" dirty="0"/>
          </a:p>
        </p:txBody>
      </p:sp>
      <p:pic>
        <p:nvPicPr>
          <p:cNvPr id="5" name="Picture 4" descr="A screenshot of a calendar&#10;&#10;Description automatically generated">
            <a:extLst>
              <a:ext uri="{FF2B5EF4-FFF2-40B4-BE49-F238E27FC236}">
                <a16:creationId xmlns:a16="http://schemas.microsoft.com/office/drawing/2014/main" id="{712AC44D-1958-4024-87E5-111F965F3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229" y="681037"/>
            <a:ext cx="4527837" cy="2547688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FFDBE944-E50C-FFCC-E574-9CD36CC7E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229" y="3629275"/>
            <a:ext cx="4527837" cy="254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366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599EA-63C9-0840-369A-C96BAF278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Frontend Key Files &amp; Components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BA470-9447-0262-0581-A03C29903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6042"/>
            <a:ext cx="10515600" cy="49268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100" dirty="0"/>
              <a:t>Calendar-app/</a:t>
            </a:r>
          </a:p>
          <a:p>
            <a:pPr marL="0" indent="0">
              <a:buNone/>
            </a:pPr>
            <a:r>
              <a:rPr lang="en-US" sz="1100" dirty="0"/>
              <a:t>── </a:t>
            </a:r>
            <a:r>
              <a:rPr lang="en-US" sz="1100" dirty="0" err="1"/>
              <a:t>src</a:t>
            </a:r>
            <a:r>
              <a:rPr lang="en-US" sz="1100" dirty="0"/>
              <a:t>/</a:t>
            </a:r>
          </a:p>
          <a:p>
            <a:pPr marL="0" indent="0">
              <a:buNone/>
            </a:pPr>
            <a:r>
              <a:rPr lang="en-US" sz="1100" dirty="0"/>
              <a:t>|       └── </a:t>
            </a:r>
            <a:r>
              <a:rPr lang="en-US" sz="1100" dirty="0" err="1"/>
              <a:t>api</a:t>
            </a:r>
            <a:r>
              <a:rPr lang="en-US" sz="1100" dirty="0"/>
              <a:t>/</a:t>
            </a:r>
          </a:p>
          <a:p>
            <a:pPr marL="0" indent="0">
              <a:buNone/>
            </a:pPr>
            <a:r>
              <a:rPr lang="en-US" sz="1100" dirty="0"/>
              <a:t>|       |        └── </a:t>
            </a:r>
            <a:r>
              <a:rPr lang="en-US" sz="1100" dirty="0" err="1"/>
              <a:t>eventsApi.js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/>
              <a:t>|      └── components/</a:t>
            </a:r>
          </a:p>
          <a:p>
            <a:pPr marL="0" indent="0">
              <a:buNone/>
            </a:pPr>
            <a:r>
              <a:rPr lang="en-US" sz="1100" dirty="0"/>
              <a:t>|       |           └── </a:t>
            </a:r>
            <a:r>
              <a:rPr lang="en-US" sz="1100" dirty="0" err="1"/>
              <a:t>MonthCalendar.js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/>
              <a:t>|       |           └── </a:t>
            </a:r>
            <a:r>
              <a:rPr lang="en-US" sz="1100" dirty="0" err="1"/>
              <a:t>DayView.js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/>
              <a:t>|       |           └── </a:t>
            </a:r>
            <a:r>
              <a:rPr lang="en-US" sz="1100" dirty="0" err="1"/>
              <a:t>EventDialog.js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/>
              <a:t>|        |         └── </a:t>
            </a:r>
            <a:r>
              <a:rPr lang="en-US" sz="1100" dirty="0" err="1"/>
              <a:t>EventModal.js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/>
              <a:t>|        |         └── </a:t>
            </a:r>
            <a:r>
              <a:rPr lang="en-US" sz="1100" dirty="0" err="1"/>
              <a:t>AvailableSlotDialog.js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/>
              <a:t>|        |         └── </a:t>
            </a:r>
            <a:r>
              <a:rPr lang="en-US" sz="1100" dirty="0" err="1"/>
              <a:t>EventsPanel.js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/>
              <a:t>|        |         └── </a:t>
            </a:r>
            <a:r>
              <a:rPr lang="en-US" sz="1100" dirty="0" err="1"/>
              <a:t>TopBar.js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/>
              <a:t>|        |          └── </a:t>
            </a:r>
            <a:r>
              <a:rPr lang="en-US" sz="1100" dirty="0" err="1"/>
              <a:t>Modal.js</a:t>
            </a:r>
            <a:r>
              <a:rPr lang="en-US" sz="1100" dirty="0"/>
              <a:t> </a:t>
            </a:r>
          </a:p>
          <a:p>
            <a:pPr marL="0" indent="0">
              <a:buNone/>
            </a:pPr>
            <a:r>
              <a:rPr lang="en-US" sz="1100" dirty="0"/>
              <a:t>|        |          └── </a:t>
            </a:r>
            <a:r>
              <a:rPr lang="en-US" sz="1100" dirty="0" err="1"/>
              <a:t>RightDrawer.js</a:t>
            </a:r>
            <a:r>
              <a:rPr lang="en-US" sz="1100" dirty="0"/>
              <a:t> </a:t>
            </a:r>
          </a:p>
          <a:p>
            <a:pPr marL="0" indent="0">
              <a:buNone/>
            </a:pPr>
            <a:r>
              <a:rPr lang="en-US" sz="1100" dirty="0"/>
              <a:t>|        └── utils/</a:t>
            </a:r>
          </a:p>
          <a:p>
            <a:pPr marL="0" indent="0">
              <a:buNone/>
            </a:pPr>
            <a:r>
              <a:rPr lang="en-US" sz="1100" dirty="0"/>
              <a:t>|        |          └──  </a:t>
            </a:r>
            <a:r>
              <a:rPr lang="en-US" sz="1100" dirty="0" err="1"/>
              <a:t>calendarUtils.js</a:t>
            </a:r>
            <a:endParaRPr lang="en-US" sz="1100" dirty="0"/>
          </a:p>
          <a:p>
            <a:pPr marL="0" indent="0">
              <a:buNone/>
            </a:pPr>
            <a:r>
              <a:rPr lang="en-US" sz="1100" dirty="0"/>
              <a:t>|        |          └── </a:t>
            </a:r>
            <a:r>
              <a:rPr lang="en-US" sz="1100" dirty="0" err="1"/>
              <a:t>eventTypes.js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64283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C9026-030B-E961-268E-E36457A52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UI Features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F182C-3D44-2DEC-2B17-7E741D396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Month view with event indicators</a:t>
            </a:r>
          </a:p>
          <a:p>
            <a:r>
              <a:rPr lang="en-US" dirty="0"/>
              <a:t>Day view with time grid</a:t>
            </a:r>
          </a:p>
          <a:p>
            <a:r>
              <a:rPr lang="en-US" dirty="0"/>
              <a:t>Click empty slot to add event (Only for today and future dates)</a:t>
            </a:r>
          </a:p>
          <a:p>
            <a:r>
              <a:rPr lang="en-US" dirty="0"/>
              <a:t>Right-click event to edit/delete (Only for today and future dates)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F7A0E3E-2DF9-CAD0-5C83-1D339F799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811" y="4129149"/>
            <a:ext cx="3639445" cy="20478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D52BEFCC-D070-0AD5-4D88-B9DB63501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418" y="4129148"/>
            <a:ext cx="3639446" cy="20478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11597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48103-26F2-7E6C-D5F2-86DE3775D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UI Feature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8C46A-BED7-12DB-22AB-6A102172C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Today’s all and remaining events panel</a:t>
            </a:r>
          </a:p>
          <a:p>
            <a:r>
              <a:rPr lang="en-US" dirty="0"/>
              <a:t>Available slot finder</a:t>
            </a:r>
          </a:p>
          <a:p>
            <a:r>
              <a:rPr lang="en-US" dirty="0"/>
              <a:t>Color-coded event types</a:t>
            </a:r>
          </a:p>
          <a:p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FA3913FA-EB16-A715-FCAD-C0FC84A56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423" y="2317994"/>
            <a:ext cx="4834377" cy="27201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70BE48AF-3543-FA59-7D3E-B7B6F224F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" y="3772705"/>
            <a:ext cx="4834378" cy="27201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44766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15A65-3686-2443-06D3-055806530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API Integration (UI → Backend)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F0CC5-DEAE-AA6C-79EF-8591D9E43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Centralized API calls via </a:t>
            </a:r>
            <a:r>
              <a:rPr lang="en-US" dirty="0" err="1"/>
              <a:t>eventsApi.js</a:t>
            </a:r>
            <a:endParaRPr lang="en-US" dirty="0"/>
          </a:p>
          <a:p>
            <a:r>
              <a:rPr lang="en-US" dirty="0"/>
              <a:t>APIs used:</a:t>
            </a:r>
          </a:p>
          <a:p>
            <a:pPr lvl="1"/>
            <a:r>
              <a:rPr lang="en-US" dirty="0"/>
              <a:t>Get all events</a:t>
            </a:r>
          </a:p>
          <a:p>
            <a:pPr lvl="1"/>
            <a:r>
              <a:rPr lang="en-US" dirty="0"/>
              <a:t>Get events by date</a:t>
            </a:r>
          </a:p>
          <a:p>
            <a:pPr lvl="1"/>
            <a:r>
              <a:rPr lang="en-US" dirty="0"/>
              <a:t>Get today’s events</a:t>
            </a:r>
          </a:p>
          <a:p>
            <a:pPr lvl="1"/>
            <a:r>
              <a:rPr lang="en-US" dirty="0"/>
              <a:t>Get remaining events</a:t>
            </a:r>
          </a:p>
          <a:p>
            <a:pPr lvl="1"/>
            <a:r>
              <a:rPr lang="en-US" dirty="0"/>
              <a:t>Add / edit / delete events</a:t>
            </a:r>
          </a:p>
          <a:p>
            <a:pPr lvl="1"/>
            <a:r>
              <a:rPr lang="en-US" dirty="0"/>
              <a:t>Get next available slot</a:t>
            </a:r>
          </a:p>
          <a:p>
            <a:r>
              <a:rPr lang="en-US" dirty="0"/>
              <a:t>Error handling and messages</a:t>
            </a:r>
          </a:p>
        </p:txBody>
      </p:sp>
    </p:spTree>
    <p:extLst>
      <p:ext uri="{BB962C8B-B14F-4D97-AF65-F5344CB8AC3E}">
        <p14:creationId xmlns:p14="http://schemas.microsoft.com/office/powerpoint/2010/main" val="3431985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67C92-6B28-674D-3C30-EFBD12CD6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Validation Strategy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CED9F-657D-51D6-1F6D-52905D851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Client-side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Prevent creation and modification of past events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End time must be after start time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Prevent overlapping events visually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Server-side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Final overlap validation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Date-based filtering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Time-bound slot calculation</a:t>
            </a:r>
          </a:p>
          <a:p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9910CE22-9BE2-A134-3E1B-CED245084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560" y="2841673"/>
            <a:ext cx="5416524" cy="30477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35760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74E1F-70BF-6EA2-FB3C-89815EDE5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How to Run the Application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E8B8A-5039-7351-1A01-C97C7F899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8083"/>
            <a:ext cx="10515600" cy="4568879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Clone calendar-application project :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g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it clone https://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github.com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/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KavyaSreeKatakam</a:t>
            </a:r>
            <a:r>
              <a:rPr lang="en-US" i="0" u="none" strike="noStrike" dirty="0">
                <a:solidFill>
                  <a:srgbClr val="000000"/>
                </a:solidFill>
                <a:effectLst/>
              </a:rPr>
              <a:t>/calendar-</a:t>
            </a:r>
            <a:r>
              <a:rPr lang="en-US" i="0" u="none" strike="noStrike" dirty="0" err="1">
                <a:solidFill>
                  <a:srgbClr val="000000"/>
                </a:solidFill>
                <a:effectLst/>
              </a:rPr>
              <a:t>application.git</a:t>
            </a:r>
            <a:endParaRPr lang="en-US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Backend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lvl="1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Open calendar-backend folder in IntelliJ</a:t>
            </a:r>
          </a:p>
          <a:p>
            <a:pPr lvl="1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Run: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mvn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spring-boot:run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or Click on Run option in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Intellij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lvl="1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Runs on: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  <a:hlinkClick r:id="rId2"/>
              </a:rPr>
              <a:t>http://localhost:8080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Frontend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lvl="1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Open calendar-app folder in VS Code</a:t>
            </a:r>
          </a:p>
          <a:p>
            <a:pPr lvl="1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Run: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npm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install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npm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start</a:t>
            </a:r>
          </a:p>
          <a:p>
            <a:pPr lvl="1">
              <a:buFont typeface="+mj-lt"/>
              <a:buAutoNum type="arabicPeriod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Runs on:</a:t>
            </a:r>
            <a:br>
              <a:rPr lang="en-US" b="0" i="0" u="none" strike="noStrike" dirty="0">
                <a:solidFill>
                  <a:srgbClr val="000000"/>
                </a:solidFill>
                <a:effectLst/>
              </a:rPr>
            </a:br>
            <a:r>
              <a:rPr lang="en-US" b="0" i="0" u="none" strike="noStrike" dirty="0">
                <a:solidFill>
                  <a:srgbClr val="000000"/>
                </a:solidFill>
                <a:effectLst/>
                <a:hlinkClick r:id="rId3"/>
              </a:rPr>
              <a:t>http://localhost:3000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00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BEC0-7B71-CC8E-6E00-B7C3200DB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Seed Data &amp; Test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E9E1B-7365-8773-0EEB-3B16058EA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15519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Stored in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calendar-backend/data/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events.json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Seed Data</a:t>
            </a:r>
          </a:p>
          <a:p>
            <a:pPr lvl="1"/>
            <a:r>
              <a:rPr lang="en-US" sz="1800" dirty="0">
                <a:solidFill>
                  <a:srgbClr val="BCBEC4"/>
                </a:solidFill>
                <a:effectLst/>
              </a:rPr>
              <a:t>[{</a:t>
            </a:r>
            <a:r>
              <a:rPr lang="en-US" sz="1800" dirty="0">
                <a:solidFill>
                  <a:srgbClr val="C77DBB"/>
                </a:solidFill>
                <a:effectLst/>
              </a:rPr>
              <a:t>"id"</a:t>
            </a:r>
            <a:r>
              <a:rPr lang="en-US" sz="1800" dirty="0">
                <a:solidFill>
                  <a:srgbClr val="BCBEC4"/>
                </a:solidFill>
                <a:effectLst/>
              </a:rPr>
              <a:t>:</a:t>
            </a:r>
            <a:r>
              <a:rPr lang="en-US" sz="1800" dirty="0">
                <a:solidFill>
                  <a:srgbClr val="6AAB73"/>
                </a:solidFill>
                <a:effectLst/>
              </a:rPr>
              <a:t>"052f0433-3b08-4bfe-9f67-f6296c1ce883"</a:t>
            </a:r>
            <a:r>
              <a:rPr lang="en-US" sz="1800" dirty="0">
                <a:solidFill>
                  <a:srgbClr val="BCBEC4"/>
                </a:solidFill>
                <a:effectLst/>
              </a:rPr>
              <a:t>,</a:t>
            </a:r>
            <a:r>
              <a:rPr lang="en-US" sz="1800" dirty="0">
                <a:solidFill>
                  <a:srgbClr val="C77DBB"/>
                </a:solidFill>
                <a:effectLst/>
              </a:rPr>
              <a:t>"title"</a:t>
            </a:r>
            <a:r>
              <a:rPr lang="en-US" sz="1800" dirty="0">
                <a:solidFill>
                  <a:srgbClr val="BCBEC4"/>
                </a:solidFill>
                <a:effectLst/>
              </a:rPr>
              <a:t>:</a:t>
            </a:r>
            <a:r>
              <a:rPr lang="en-US" sz="1800" dirty="0">
                <a:solidFill>
                  <a:srgbClr val="6AAB73"/>
                </a:solidFill>
                <a:effectLst/>
              </a:rPr>
              <a:t>"New Year"</a:t>
            </a:r>
            <a:r>
              <a:rPr lang="en-US" sz="1800" dirty="0">
                <a:solidFill>
                  <a:srgbClr val="BCBEC4"/>
                </a:solidFill>
                <a:effectLst/>
              </a:rPr>
              <a:t>,</a:t>
            </a:r>
            <a:r>
              <a:rPr lang="en-US" sz="1800" dirty="0">
                <a:solidFill>
                  <a:srgbClr val="C77DBB"/>
                </a:solidFill>
                <a:effectLst/>
              </a:rPr>
              <a:t>"type"</a:t>
            </a:r>
            <a:r>
              <a:rPr lang="en-US" sz="1800" dirty="0">
                <a:solidFill>
                  <a:srgbClr val="BCBEC4"/>
                </a:solidFill>
                <a:effectLst/>
              </a:rPr>
              <a:t>:</a:t>
            </a:r>
            <a:r>
              <a:rPr lang="en-US" sz="1800" dirty="0">
                <a:solidFill>
                  <a:srgbClr val="6AAB73"/>
                </a:solidFill>
                <a:effectLst/>
              </a:rPr>
              <a:t>"HOLIDAY"</a:t>
            </a:r>
            <a:r>
              <a:rPr lang="en-US" sz="1800" dirty="0">
                <a:solidFill>
                  <a:srgbClr val="BCBEC4"/>
                </a:solidFill>
                <a:effectLst/>
              </a:rPr>
              <a:t>,</a:t>
            </a:r>
            <a:r>
              <a:rPr lang="en-US" sz="1800" dirty="0">
                <a:solidFill>
                  <a:srgbClr val="C77DBB"/>
                </a:solidFill>
                <a:effectLst/>
              </a:rPr>
              <a:t>"date"</a:t>
            </a:r>
            <a:r>
              <a:rPr lang="en-US" sz="1800" dirty="0">
                <a:solidFill>
                  <a:srgbClr val="BCBEC4"/>
                </a:solidFill>
                <a:effectLst/>
              </a:rPr>
              <a:t>:</a:t>
            </a:r>
            <a:r>
              <a:rPr lang="en-US" sz="1800" dirty="0">
                <a:solidFill>
                  <a:srgbClr val="6AAB73"/>
                </a:solidFill>
                <a:effectLst/>
              </a:rPr>
              <a:t>"2026-01-01"</a:t>
            </a:r>
            <a:r>
              <a:rPr lang="en-US" sz="1800" dirty="0">
                <a:solidFill>
                  <a:srgbClr val="BCBEC4"/>
                </a:solidFill>
                <a:effectLst/>
              </a:rPr>
              <a:t>,</a:t>
            </a:r>
            <a:r>
              <a:rPr lang="en-US" sz="1800" dirty="0">
                <a:solidFill>
                  <a:srgbClr val="C77DBB"/>
                </a:solidFill>
                <a:effectLst/>
              </a:rPr>
              <a:t>"startTime"</a:t>
            </a:r>
            <a:r>
              <a:rPr lang="en-US" sz="1800" dirty="0">
                <a:solidFill>
                  <a:srgbClr val="BCBEC4"/>
                </a:solidFill>
                <a:effectLst/>
              </a:rPr>
              <a:t>:</a:t>
            </a:r>
            <a:r>
              <a:rPr lang="en-US" sz="1800" dirty="0">
                <a:solidFill>
                  <a:srgbClr val="6AAB73"/>
                </a:solidFill>
                <a:effectLst/>
              </a:rPr>
              <a:t>"09:00"</a:t>
            </a:r>
            <a:r>
              <a:rPr lang="en-US" sz="1800" dirty="0">
                <a:solidFill>
                  <a:srgbClr val="BCBEC4"/>
                </a:solidFill>
                <a:effectLst/>
              </a:rPr>
              <a:t>,</a:t>
            </a:r>
            <a:r>
              <a:rPr lang="en-US" sz="1800" dirty="0">
                <a:solidFill>
                  <a:srgbClr val="C77DBB"/>
                </a:solidFill>
                <a:effectLst/>
              </a:rPr>
              <a:t>"endTime"</a:t>
            </a:r>
            <a:r>
              <a:rPr lang="en-US" sz="1800" dirty="0">
                <a:solidFill>
                  <a:srgbClr val="BCBEC4"/>
                </a:solidFill>
                <a:effectLst/>
              </a:rPr>
              <a:t>:</a:t>
            </a:r>
            <a:r>
              <a:rPr lang="en-US" sz="1800" dirty="0">
                <a:solidFill>
                  <a:srgbClr val="6AAB73"/>
                </a:solidFill>
                <a:effectLst/>
              </a:rPr>
              <a:t>"17:00"</a:t>
            </a:r>
            <a:r>
              <a:rPr lang="en-US" sz="1800" dirty="0">
                <a:solidFill>
                  <a:srgbClr val="BCBEC4"/>
                </a:solidFill>
                <a:effectLst/>
              </a:rPr>
              <a:t>},</a:t>
            </a:r>
            <a:endParaRPr lang="en-US" sz="1800" dirty="0">
              <a:solidFill>
                <a:srgbClr val="BCBEC4"/>
              </a:solidFill>
            </a:endParaRPr>
          </a:p>
          <a:p>
            <a:pPr lvl="1"/>
            <a:r>
              <a:rPr lang="en-US" sz="1800" dirty="0">
                <a:solidFill>
                  <a:srgbClr val="BCBEC4"/>
                </a:solidFill>
                <a:effectLst/>
              </a:rPr>
              <a:t>{</a:t>
            </a:r>
            <a:r>
              <a:rPr lang="en-US" sz="1800" dirty="0">
                <a:solidFill>
                  <a:srgbClr val="C77DBB"/>
                </a:solidFill>
                <a:effectLst/>
              </a:rPr>
              <a:t>"id"</a:t>
            </a:r>
            <a:r>
              <a:rPr lang="en-US" sz="1800" dirty="0">
                <a:solidFill>
                  <a:srgbClr val="BCBEC4"/>
                </a:solidFill>
                <a:effectLst/>
              </a:rPr>
              <a:t>:</a:t>
            </a:r>
            <a:r>
              <a:rPr lang="en-US" sz="1800" dirty="0">
                <a:solidFill>
                  <a:srgbClr val="6AAB73"/>
                </a:solidFill>
                <a:effectLst/>
              </a:rPr>
              <a:t>"799b0007-f99c-4d97-9d25-2cd53813752a"</a:t>
            </a:r>
            <a:r>
              <a:rPr lang="en-US" sz="1800" dirty="0">
                <a:solidFill>
                  <a:srgbClr val="BCBEC4"/>
                </a:solidFill>
                <a:effectLst/>
              </a:rPr>
              <a:t>,</a:t>
            </a:r>
            <a:r>
              <a:rPr lang="en-US" sz="1800" dirty="0">
                <a:solidFill>
                  <a:srgbClr val="C77DBB"/>
                </a:solidFill>
                <a:effectLst/>
              </a:rPr>
              <a:t>"title"</a:t>
            </a:r>
            <a:r>
              <a:rPr lang="en-US" sz="1800" dirty="0">
                <a:solidFill>
                  <a:srgbClr val="BCBEC4"/>
                </a:solidFill>
                <a:effectLst/>
              </a:rPr>
              <a:t>:</a:t>
            </a:r>
            <a:r>
              <a:rPr lang="en-US" sz="1800" dirty="0">
                <a:solidFill>
                  <a:srgbClr val="6AAB73"/>
                </a:solidFill>
                <a:effectLst/>
              </a:rPr>
              <a:t>"New Year's Eve"</a:t>
            </a:r>
            <a:r>
              <a:rPr lang="en-US" sz="1800" dirty="0">
                <a:solidFill>
                  <a:srgbClr val="BCBEC4"/>
                </a:solidFill>
                <a:effectLst/>
              </a:rPr>
              <a:t>,</a:t>
            </a:r>
            <a:r>
              <a:rPr lang="en-US" sz="1800" dirty="0">
                <a:solidFill>
                  <a:srgbClr val="C77DBB"/>
                </a:solidFill>
                <a:effectLst/>
              </a:rPr>
              <a:t>"type"</a:t>
            </a:r>
            <a:r>
              <a:rPr lang="en-US" sz="1800" dirty="0">
                <a:solidFill>
                  <a:srgbClr val="BCBEC4"/>
                </a:solidFill>
                <a:effectLst/>
              </a:rPr>
              <a:t>:</a:t>
            </a:r>
            <a:r>
              <a:rPr lang="en-US" sz="1800" dirty="0">
                <a:solidFill>
                  <a:srgbClr val="6AAB73"/>
                </a:solidFill>
                <a:effectLst/>
              </a:rPr>
              <a:t>"OOO"</a:t>
            </a:r>
            <a:r>
              <a:rPr lang="en-US" sz="1800" dirty="0">
                <a:solidFill>
                  <a:srgbClr val="BCBEC4"/>
                </a:solidFill>
                <a:effectLst/>
              </a:rPr>
              <a:t>,</a:t>
            </a:r>
            <a:r>
              <a:rPr lang="en-US" sz="1800" dirty="0">
                <a:solidFill>
                  <a:srgbClr val="C77DBB"/>
                </a:solidFill>
                <a:effectLst/>
              </a:rPr>
              <a:t>"date"</a:t>
            </a:r>
            <a:r>
              <a:rPr lang="en-US" sz="1800" dirty="0">
                <a:solidFill>
                  <a:srgbClr val="BCBEC4"/>
                </a:solidFill>
                <a:effectLst/>
              </a:rPr>
              <a:t>:</a:t>
            </a:r>
            <a:r>
              <a:rPr lang="en-US" sz="1800" dirty="0">
                <a:solidFill>
                  <a:srgbClr val="6AAB73"/>
                </a:solidFill>
                <a:effectLst/>
              </a:rPr>
              <a:t>"2025-12-31"</a:t>
            </a:r>
            <a:r>
              <a:rPr lang="en-US" sz="1800" dirty="0">
                <a:solidFill>
                  <a:srgbClr val="BCBEC4"/>
                </a:solidFill>
                <a:effectLst/>
              </a:rPr>
              <a:t>,</a:t>
            </a:r>
            <a:r>
              <a:rPr lang="en-US" sz="1800" dirty="0">
                <a:solidFill>
                  <a:srgbClr val="C77DBB"/>
                </a:solidFill>
                <a:effectLst/>
              </a:rPr>
              <a:t>"startTime"</a:t>
            </a:r>
            <a:r>
              <a:rPr lang="en-US" sz="1800" dirty="0">
                <a:solidFill>
                  <a:srgbClr val="BCBEC4"/>
                </a:solidFill>
                <a:effectLst/>
              </a:rPr>
              <a:t>:</a:t>
            </a:r>
            <a:r>
              <a:rPr lang="en-US" sz="1800" dirty="0">
                <a:solidFill>
                  <a:srgbClr val="6AAB73"/>
                </a:solidFill>
                <a:effectLst/>
              </a:rPr>
              <a:t>"14:00"</a:t>
            </a:r>
            <a:r>
              <a:rPr lang="en-US" sz="1800" dirty="0">
                <a:solidFill>
                  <a:srgbClr val="BCBEC4"/>
                </a:solidFill>
                <a:effectLst/>
              </a:rPr>
              <a:t>,</a:t>
            </a:r>
            <a:r>
              <a:rPr lang="en-US" sz="1800" dirty="0">
                <a:solidFill>
                  <a:srgbClr val="C77DBB"/>
                </a:solidFill>
                <a:effectLst/>
              </a:rPr>
              <a:t>"endTime"</a:t>
            </a:r>
            <a:r>
              <a:rPr lang="en-US" sz="1800" dirty="0">
                <a:solidFill>
                  <a:srgbClr val="BCBEC4"/>
                </a:solidFill>
                <a:effectLst/>
              </a:rPr>
              <a:t>:</a:t>
            </a:r>
            <a:r>
              <a:rPr lang="en-US" sz="1800" dirty="0">
                <a:solidFill>
                  <a:srgbClr val="6AAB73"/>
                </a:solidFill>
                <a:effectLst/>
              </a:rPr>
              <a:t>"17:00"</a:t>
            </a:r>
            <a:r>
              <a:rPr lang="en-US" sz="1800" dirty="0">
                <a:solidFill>
                  <a:srgbClr val="BCBEC4"/>
                </a:solidFill>
                <a:effectLst/>
              </a:rPr>
              <a:t>}]</a:t>
            </a:r>
            <a:endParaRPr lang="en-US" sz="18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Test Data</a:t>
            </a:r>
          </a:p>
          <a:p>
            <a:pPr lvl="1"/>
            <a:r>
              <a:rPr lang="en-US" sz="1800" dirty="0">
                <a:solidFill>
                  <a:srgbClr val="BCBEC4"/>
                </a:solidFill>
                <a:effectLst/>
              </a:rPr>
              <a:t>Try editing : 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rgbClr val="BCBEC4"/>
                </a:solidFill>
              </a:rPr>
              <a:t>	</a:t>
            </a:r>
            <a:r>
              <a:rPr lang="en-US" sz="1800" dirty="0">
                <a:solidFill>
                  <a:srgbClr val="BCBEC4"/>
                </a:solidFill>
                <a:effectLst/>
              </a:rPr>
              <a:t>{</a:t>
            </a:r>
            <a:r>
              <a:rPr lang="en-US" sz="1800" dirty="0">
                <a:solidFill>
                  <a:srgbClr val="C77DBB"/>
                </a:solidFill>
                <a:effectLst/>
              </a:rPr>
              <a:t>"id"</a:t>
            </a:r>
            <a:r>
              <a:rPr lang="en-US" sz="1800" dirty="0">
                <a:solidFill>
                  <a:srgbClr val="BCBEC4"/>
                </a:solidFill>
                <a:effectLst/>
              </a:rPr>
              <a:t>:</a:t>
            </a:r>
            <a:r>
              <a:rPr lang="en-US" sz="1800" dirty="0">
                <a:solidFill>
                  <a:srgbClr val="6AAB73"/>
                </a:solidFill>
                <a:effectLst/>
              </a:rPr>
              <a:t>"799b0007-f99c-4d97-9d25-2cd53813752a"</a:t>
            </a:r>
            <a:r>
              <a:rPr lang="en-US" sz="1800" dirty="0">
                <a:solidFill>
                  <a:srgbClr val="BCBEC4"/>
                </a:solidFill>
                <a:effectLst/>
              </a:rPr>
              <a:t>,</a:t>
            </a:r>
            <a:r>
              <a:rPr lang="en-US" sz="1800" dirty="0">
                <a:solidFill>
                  <a:srgbClr val="C77DBB"/>
                </a:solidFill>
                <a:effectLst/>
              </a:rPr>
              <a:t>"title"</a:t>
            </a:r>
            <a:r>
              <a:rPr lang="en-US" sz="1800" dirty="0">
                <a:solidFill>
                  <a:srgbClr val="BCBEC4"/>
                </a:solidFill>
                <a:effectLst/>
              </a:rPr>
              <a:t>:</a:t>
            </a:r>
            <a:r>
              <a:rPr lang="en-US" sz="1800" dirty="0">
                <a:solidFill>
                  <a:srgbClr val="6AAB73"/>
                </a:solidFill>
                <a:effectLst/>
              </a:rPr>
              <a:t>"New Year’s Eve"</a:t>
            </a:r>
            <a:r>
              <a:rPr lang="en-US" sz="1800" dirty="0">
                <a:solidFill>
                  <a:srgbClr val="BCBEC4"/>
                </a:solidFill>
                <a:effectLst/>
              </a:rPr>
              <a:t>,</a:t>
            </a:r>
            <a:r>
              <a:rPr lang="en-US" sz="1800" dirty="0">
                <a:solidFill>
                  <a:srgbClr val="C77DBB"/>
                </a:solidFill>
                <a:effectLst/>
              </a:rPr>
              <a:t>"type"</a:t>
            </a:r>
            <a:r>
              <a:rPr lang="en-US" sz="1800" dirty="0">
                <a:solidFill>
                  <a:srgbClr val="BCBEC4"/>
                </a:solidFill>
                <a:effectLst/>
              </a:rPr>
              <a:t>:</a:t>
            </a:r>
            <a:r>
              <a:rPr lang="en-US" sz="1800" dirty="0">
                <a:solidFill>
                  <a:srgbClr val="6AAB73"/>
                </a:solidFill>
                <a:effectLst/>
              </a:rPr>
              <a:t>"OOO"</a:t>
            </a:r>
            <a:r>
              <a:rPr lang="en-US" sz="1800" dirty="0">
                <a:solidFill>
                  <a:srgbClr val="BCBEC4"/>
                </a:solidFill>
                <a:effectLst/>
              </a:rPr>
              <a:t>,</a:t>
            </a:r>
            <a:r>
              <a:rPr lang="en-US" sz="1800" dirty="0">
                <a:solidFill>
                  <a:srgbClr val="C77DBB"/>
                </a:solidFill>
                <a:effectLst/>
              </a:rPr>
              <a:t>"date"</a:t>
            </a:r>
            <a:r>
              <a:rPr lang="en-US" sz="1800" dirty="0">
                <a:solidFill>
                  <a:srgbClr val="BCBEC4"/>
                </a:solidFill>
                <a:effectLst/>
              </a:rPr>
              <a:t>:</a:t>
            </a:r>
            <a:r>
              <a:rPr lang="en-US" sz="1800" dirty="0">
                <a:solidFill>
                  <a:srgbClr val="6AAB73"/>
                </a:solidFill>
                <a:effectLst/>
              </a:rPr>
              <a:t>"2025-12-31"</a:t>
            </a:r>
            <a:r>
              <a:rPr lang="en-US" sz="1800" dirty="0">
                <a:solidFill>
                  <a:srgbClr val="BCBEC4"/>
                </a:solidFill>
                <a:effectLst/>
              </a:rPr>
              <a:t>,</a:t>
            </a:r>
            <a:r>
              <a:rPr lang="en-US" sz="1800" dirty="0">
                <a:solidFill>
                  <a:srgbClr val="C77DBB"/>
                </a:solidFill>
                <a:effectLst/>
              </a:rPr>
              <a:t>"startTime"</a:t>
            </a:r>
            <a:r>
              <a:rPr lang="en-US" sz="1800" dirty="0">
                <a:solidFill>
                  <a:srgbClr val="BCBEC4"/>
                </a:solidFill>
                <a:effectLst/>
              </a:rPr>
              <a:t>:</a:t>
            </a:r>
            <a:r>
              <a:rPr lang="en-US" sz="1800" dirty="0">
                <a:solidFill>
                  <a:srgbClr val="6AAB73"/>
                </a:solidFill>
                <a:effectLst/>
              </a:rPr>
              <a:t>"14:00"</a:t>
            </a:r>
            <a:r>
              <a:rPr lang="en-US" sz="1800" dirty="0">
                <a:solidFill>
                  <a:srgbClr val="BCBEC4"/>
                </a:solidFill>
                <a:effectLst/>
              </a:rPr>
              <a:t>,</a:t>
            </a:r>
            <a:r>
              <a:rPr lang="en-US" sz="1800" dirty="0">
                <a:solidFill>
                  <a:srgbClr val="C77DBB"/>
                </a:solidFill>
                <a:effectLst/>
              </a:rPr>
              <a:t>"endTime"</a:t>
            </a:r>
            <a:r>
              <a:rPr lang="en-US" sz="1800" dirty="0">
                <a:solidFill>
                  <a:srgbClr val="BCBEC4"/>
                </a:solidFill>
                <a:effectLst/>
              </a:rPr>
              <a:t>:</a:t>
            </a:r>
            <a:r>
              <a:rPr lang="en-US" sz="1800" dirty="0">
                <a:solidFill>
                  <a:srgbClr val="6AAB73"/>
                </a:solidFill>
                <a:effectLst/>
              </a:rPr>
              <a:t>"17:00"</a:t>
            </a:r>
            <a:r>
              <a:rPr lang="en-US" sz="1800" dirty="0">
                <a:solidFill>
                  <a:srgbClr val="BCBEC4"/>
                </a:solidFill>
                <a:effectLst/>
              </a:rPr>
              <a:t>} </a:t>
            </a:r>
          </a:p>
          <a:p>
            <a:pPr marL="457200" lvl="1" indent="0">
              <a:buNone/>
            </a:pPr>
            <a:r>
              <a:rPr lang="en-US" sz="1800" b="0" i="0" u="none" strike="noStrike" dirty="0">
                <a:solidFill>
                  <a:srgbClr val="BCBEC4"/>
                </a:solidFill>
              </a:rPr>
              <a:t>     to </a:t>
            </a:r>
          </a:p>
          <a:p>
            <a:pPr marL="457200" lvl="1" indent="0">
              <a:buNone/>
            </a:pPr>
            <a:r>
              <a:rPr lang="en-US" sz="1800" dirty="0">
                <a:solidFill>
                  <a:srgbClr val="BCBEC4"/>
                </a:solidFill>
                <a:effectLst/>
              </a:rPr>
              <a:t> 	{</a:t>
            </a:r>
            <a:r>
              <a:rPr lang="en-US" sz="1800" dirty="0">
                <a:solidFill>
                  <a:srgbClr val="C77DBB"/>
                </a:solidFill>
                <a:effectLst/>
              </a:rPr>
              <a:t>"id"</a:t>
            </a:r>
            <a:r>
              <a:rPr lang="en-US" sz="1800" dirty="0">
                <a:solidFill>
                  <a:srgbClr val="BCBEC4"/>
                </a:solidFill>
                <a:effectLst/>
              </a:rPr>
              <a:t>:</a:t>
            </a:r>
            <a:r>
              <a:rPr lang="en-US" sz="1800" dirty="0">
                <a:solidFill>
                  <a:srgbClr val="6AAB73"/>
                </a:solidFill>
                <a:effectLst/>
              </a:rPr>
              <a:t>"799b0007-f99c-4d97-9d25-2cd53813752a"</a:t>
            </a:r>
            <a:r>
              <a:rPr lang="en-US" sz="1800" dirty="0">
                <a:solidFill>
                  <a:srgbClr val="BCBEC4"/>
                </a:solidFill>
                <a:effectLst/>
              </a:rPr>
              <a:t>,</a:t>
            </a:r>
            <a:r>
              <a:rPr lang="en-US" sz="1800" dirty="0">
                <a:solidFill>
                  <a:srgbClr val="C77DBB"/>
                </a:solidFill>
                <a:effectLst/>
              </a:rPr>
              <a:t>"title"</a:t>
            </a:r>
            <a:r>
              <a:rPr lang="en-US" sz="1800" dirty="0">
                <a:solidFill>
                  <a:srgbClr val="BCBEC4"/>
                </a:solidFill>
                <a:effectLst/>
              </a:rPr>
              <a:t>:</a:t>
            </a:r>
            <a:r>
              <a:rPr lang="en-US" sz="1800" dirty="0">
                <a:solidFill>
                  <a:srgbClr val="6AAB73"/>
                </a:solidFill>
                <a:effectLst/>
              </a:rPr>
              <a:t>"New Year’s Eve"</a:t>
            </a:r>
            <a:r>
              <a:rPr lang="en-US" sz="1800" dirty="0">
                <a:solidFill>
                  <a:srgbClr val="BCBEC4"/>
                </a:solidFill>
                <a:effectLst/>
              </a:rPr>
              <a:t>,</a:t>
            </a:r>
            <a:r>
              <a:rPr lang="en-US" sz="1800" dirty="0">
                <a:solidFill>
                  <a:srgbClr val="C77DBB"/>
                </a:solidFill>
                <a:effectLst/>
              </a:rPr>
              <a:t>"type"</a:t>
            </a:r>
            <a:r>
              <a:rPr lang="en-US" sz="1800" dirty="0">
                <a:solidFill>
                  <a:srgbClr val="BCBEC4"/>
                </a:solidFill>
                <a:effectLst/>
              </a:rPr>
              <a:t>:</a:t>
            </a:r>
            <a:r>
              <a:rPr lang="en-US" sz="1800" dirty="0">
                <a:solidFill>
                  <a:srgbClr val="6AAB73"/>
                </a:solidFill>
                <a:effectLst/>
              </a:rPr>
              <a:t>"OOO"</a:t>
            </a:r>
            <a:r>
              <a:rPr lang="en-US" sz="1800" dirty="0">
                <a:solidFill>
                  <a:srgbClr val="BCBEC4"/>
                </a:solidFill>
                <a:effectLst/>
              </a:rPr>
              <a:t>,</a:t>
            </a:r>
            <a:r>
              <a:rPr lang="en-US" sz="1800" dirty="0">
                <a:solidFill>
                  <a:srgbClr val="C77DBB"/>
                </a:solidFill>
                <a:effectLst/>
              </a:rPr>
              <a:t>"date"</a:t>
            </a:r>
            <a:r>
              <a:rPr lang="en-US" sz="1800" dirty="0">
                <a:solidFill>
                  <a:srgbClr val="BCBEC4"/>
                </a:solidFill>
                <a:effectLst/>
              </a:rPr>
              <a:t>:</a:t>
            </a:r>
            <a:r>
              <a:rPr lang="en-US" sz="1800" dirty="0">
                <a:solidFill>
                  <a:srgbClr val="6AAB73"/>
                </a:solidFill>
                <a:effectLst/>
              </a:rPr>
              <a:t>"</a:t>
            </a:r>
            <a:r>
              <a:rPr lang="en-US" sz="1800" dirty="0">
                <a:solidFill>
                  <a:schemeClr val="accent2"/>
                </a:solidFill>
                <a:effectLst/>
              </a:rPr>
              <a:t>2026-01-01</a:t>
            </a:r>
            <a:r>
              <a:rPr lang="en-US" sz="1800" dirty="0">
                <a:solidFill>
                  <a:srgbClr val="6AAB73"/>
                </a:solidFill>
                <a:effectLst/>
              </a:rPr>
              <a:t>"</a:t>
            </a:r>
            <a:r>
              <a:rPr lang="en-US" sz="1800" dirty="0">
                <a:solidFill>
                  <a:srgbClr val="BCBEC4"/>
                </a:solidFill>
                <a:effectLst/>
              </a:rPr>
              <a:t>,</a:t>
            </a:r>
            <a:r>
              <a:rPr lang="en-US" sz="1800" dirty="0">
                <a:solidFill>
                  <a:srgbClr val="C77DBB"/>
                </a:solidFill>
                <a:effectLst/>
              </a:rPr>
              <a:t>"startTime"</a:t>
            </a:r>
            <a:r>
              <a:rPr lang="en-US" sz="1800" dirty="0">
                <a:solidFill>
                  <a:srgbClr val="BCBEC4"/>
                </a:solidFill>
                <a:effectLst/>
              </a:rPr>
              <a:t>:</a:t>
            </a:r>
            <a:r>
              <a:rPr lang="en-US" sz="1800" dirty="0">
                <a:solidFill>
                  <a:srgbClr val="6AAB73"/>
                </a:solidFill>
                <a:effectLst/>
              </a:rPr>
              <a:t>"14:00"</a:t>
            </a:r>
            <a:r>
              <a:rPr lang="en-US" sz="1800" dirty="0">
                <a:solidFill>
                  <a:srgbClr val="BCBEC4"/>
                </a:solidFill>
                <a:effectLst/>
              </a:rPr>
              <a:t>,</a:t>
            </a:r>
            <a:r>
              <a:rPr lang="en-US" sz="1800" dirty="0">
                <a:solidFill>
                  <a:srgbClr val="C77DBB"/>
                </a:solidFill>
                <a:effectLst/>
              </a:rPr>
              <a:t>"endTime"</a:t>
            </a:r>
            <a:r>
              <a:rPr lang="en-US" sz="1800" dirty="0">
                <a:solidFill>
                  <a:srgbClr val="BCBEC4"/>
                </a:solidFill>
                <a:effectLst/>
              </a:rPr>
              <a:t>:</a:t>
            </a:r>
            <a:r>
              <a:rPr lang="en-US" sz="1800" dirty="0">
                <a:solidFill>
                  <a:srgbClr val="6AAB73"/>
                </a:solidFill>
                <a:effectLst/>
              </a:rPr>
              <a:t>"17:00"</a:t>
            </a:r>
            <a:r>
              <a:rPr lang="en-US" sz="1800" dirty="0">
                <a:solidFill>
                  <a:srgbClr val="BCBEC4"/>
                </a:solidFill>
                <a:effectLst/>
              </a:rPr>
              <a:t>} </a:t>
            </a:r>
          </a:p>
          <a:p>
            <a:pPr marL="457200" lvl="1" indent="0">
              <a:buNone/>
            </a:pPr>
            <a:endParaRPr lang="en-US" sz="1800" dirty="0">
              <a:solidFill>
                <a:srgbClr val="BCBEC4"/>
              </a:solidFill>
              <a:effectLst/>
            </a:endParaRPr>
          </a:p>
          <a:p>
            <a:pPr marL="457200" lvl="1" indent="0">
              <a:buNone/>
            </a:pPr>
            <a:endParaRPr lang="en-US" sz="1800" b="0" i="0" u="none" strike="noStrike" dirty="0">
              <a:solidFill>
                <a:srgbClr val="000000"/>
              </a:solidFill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636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4D4AC-D74F-E3DB-82E8-A4A5275BE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Testing &amp; Verification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79F4E-3C0B-71E3-6411-784B0E9A1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UI to:</a:t>
            </a:r>
          </a:p>
          <a:p>
            <a:pPr lvl="1"/>
            <a:r>
              <a:rPr lang="en-US" dirty="0"/>
              <a:t>Add events</a:t>
            </a:r>
          </a:p>
          <a:p>
            <a:pPr lvl="1"/>
            <a:r>
              <a:rPr lang="en-US" dirty="0"/>
              <a:t>Attempt overlapping events</a:t>
            </a:r>
          </a:p>
          <a:p>
            <a:pPr lvl="1"/>
            <a:r>
              <a:rPr lang="en-US" dirty="0"/>
              <a:t>Edit and delete events</a:t>
            </a:r>
          </a:p>
          <a:p>
            <a:pPr lvl="1"/>
            <a:r>
              <a:rPr lang="en-US" dirty="0"/>
              <a:t>View daily and monthly views</a:t>
            </a:r>
          </a:p>
          <a:p>
            <a:r>
              <a:rPr lang="en-US" dirty="0"/>
              <a:t>Use Postman to:</a:t>
            </a:r>
          </a:p>
          <a:p>
            <a:pPr lvl="1"/>
            <a:r>
              <a:rPr lang="en-US" dirty="0"/>
              <a:t>Call REST APIs directly</a:t>
            </a:r>
          </a:p>
          <a:p>
            <a:pPr lvl="1"/>
            <a:r>
              <a:rPr lang="en-US" dirty="0"/>
              <a:t>Verify conflict responses</a:t>
            </a:r>
          </a:p>
          <a:p>
            <a:pPr lvl="1"/>
            <a:r>
              <a:rPr lang="en-US" dirty="0"/>
              <a:t>Test available slot endpoint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354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9F5A0-12A4-2E50-4104-D4CA4606C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Key Assumptions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36873-3396-F073-ACB0-44E129657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Events do not span multiple days</a:t>
            </a:r>
          </a:p>
          <a:p>
            <a:r>
              <a:rPr lang="en-US" dirty="0"/>
              <a:t>Time format: </a:t>
            </a:r>
            <a:r>
              <a:rPr lang="en-US" dirty="0" err="1"/>
              <a:t>HH:mm</a:t>
            </a:r>
            <a:endParaRPr lang="en-US" dirty="0"/>
          </a:p>
          <a:p>
            <a:r>
              <a:rPr lang="en-US" dirty="0"/>
              <a:t>Date format: </a:t>
            </a:r>
            <a:r>
              <a:rPr lang="en-US" dirty="0" err="1"/>
              <a:t>yyyy</a:t>
            </a:r>
            <a:r>
              <a:rPr lang="en-US" dirty="0"/>
              <a:t>-MM-dd</a:t>
            </a:r>
          </a:p>
          <a:p>
            <a:r>
              <a:rPr lang="en-US" dirty="0"/>
              <a:t>Working hours: 9 AM – 5 PM (Only in case of searching for available slots for now)</a:t>
            </a:r>
          </a:p>
          <a:p>
            <a:r>
              <a:rPr lang="en-US" dirty="0"/>
              <a:t>No authentication required</a:t>
            </a:r>
          </a:p>
          <a:p>
            <a:r>
              <a:rPr lang="en-US" dirty="0"/>
              <a:t>Backend-only persistence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504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34608-3A84-5F2C-3DA5-3B7780AEB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Future scope and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9D964-9355-8B2B-7D4B-2BB572C9F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Extended Calendar Views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Enhance the calendar grid to support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year-level or multi-year views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enabling long-term planning and navigation.</a:t>
            </a:r>
            <a:endParaRPr lang="en-US" b="1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Stronger and Controlled </a:t>
            </a:r>
            <a:r>
              <a:rPr lang="en-US" b="1" i="0" u="none" strike="noStrike">
                <a:solidFill>
                  <a:srgbClr val="000000"/>
                </a:solidFill>
                <a:effectLst/>
              </a:rPr>
              <a:t>Input Validation</a:t>
            </a:r>
            <a:endParaRPr lang="en-US" b="1" i="0" u="none" strike="noStrike" dirty="0">
              <a:solidFill>
                <a:srgbClr val="000000"/>
              </a:solidFill>
              <a:effectLst/>
            </a:endParaRP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Introduce additional validations to handle edge cases more robustly, including stricter checks for invalid or inconsistent inputs like:</a:t>
            </a:r>
          </a:p>
          <a:p>
            <a:pPr lvl="2"/>
            <a:r>
              <a:rPr lang="en-US" dirty="0"/>
              <a:t>To not make date and time manually editable</a:t>
            </a:r>
          </a:p>
          <a:p>
            <a:pPr lvl="2"/>
            <a:r>
              <a:rPr lang="en-US" dirty="0"/>
              <a:t>Validations for past date while manually editing date and time instead of using Date Picker or Time Picker</a:t>
            </a:r>
          </a:p>
          <a:p>
            <a:pPr marL="914400" lvl="2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6267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812ED-2A6C-5EDC-AED8-D30D929B5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150AC-BA8C-86B0-A595-C18798CDE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Clean separation of UI and backend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File-based persistence (no DB)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Strong validation and overlap prevention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Simple, scalable design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Fully functional end-to-end calendar application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34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950</Words>
  <Application>Microsoft Macintosh PowerPoint</Application>
  <PresentationFormat>Widescreen</PresentationFormat>
  <Paragraphs>168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-webkit-standard</vt:lpstr>
      <vt:lpstr>Arial</vt:lpstr>
      <vt:lpstr>Calibri</vt:lpstr>
      <vt:lpstr>Calibri Light</vt:lpstr>
      <vt:lpstr>Office Theme</vt:lpstr>
      <vt:lpstr>Simple Calendar Application</vt:lpstr>
      <vt:lpstr>Overview</vt:lpstr>
      <vt:lpstr>Problem Statement</vt:lpstr>
      <vt:lpstr>Overall Approach</vt:lpstr>
      <vt:lpstr>Backend Design</vt:lpstr>
      <vt:lpstr>Backend Key Files &amp; Folders</vt:lpstr>
      <vt:lpstr>Backend Core Features</vt:lpstr>
      <vt:lpstr>Frontend Design</vt:lpstr>
      <vt:lpstr>Frontend Key Files &amp; Components</vt:lpstr>
      <vt:lpstr>UI Features</vt:lpstr>
      <vt:lpstr>UI Feature cont.</vt:lpstr>
      <vt:lpstr>API Integration (UI → Backend)</vt:lpstr>
      <vt:lpstr>Validation Strategy</vt:lpstr>
      <vt:lpstr>How to Run the Application</vt:lpstr>
      <vt:lpstr>Seed Data &amp; Test Data</vt:lpstr>
      <vt:lpstr>Testing &amp; Verification</vt:lpstr>
      <vt:lpstr>Key Assumptions</vt:lpstr>
      <vt:lpstr>Future scope and improvements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Calendar Application</dc:title>
  <dc:creator>Katakam, Kavya Sree</dc:creator>
  <cp:lastModifiedBy>Katakam, Kavya Sree</cp:lastModifiedBy>
  <cp:revision>7</cp:revision>
  <dcterms:created xsi:type="dcterms:W3CDTF">2025-12-31T08:31:21Z</dcterms:created>
  <dcterms:modified xsi:type="dcterms:W3CDTF">2025-12-31T11:08:30Z</dcterms:modified>
</cp:coreProperties>
</file>